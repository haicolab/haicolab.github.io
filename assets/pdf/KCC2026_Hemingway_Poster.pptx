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embeddedFontLst>
    <p:embeddedFont>
      <p:font typeface="Noto Sans" panose="020B0502040504020204" pitchFamily="34" charset="0"/>
      <p:regular r:id="rId4"/>
      <p:bold r:id="rId5"/>
      <p:italic r:id="rId6"/>
    </p:embeddedFont>
    <p:embeddedFont>
      <p:font typeface="Open Sans" panose="020B0606030504020204" pitchFamily="34" charset="0"/>
      <p:regular r:id="rId7"/>
      <p:bold r:id="rId8"/>
      <p:italic r:id="rId9"/>
      <p:boldItalic r:id="rId10"/>
    </p:embeddedFont>
    <p:embeddedFont>
      <p:font typeface="Open Sans SemiBold" panose="020B0706030804020204" pitchFamily="34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2OCq+P/ed+W/D7QdrOpzncfnR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50" d="100"/>
          <a:sy n="50" d="100"/>
        </p:scale>
        <p:origin x="-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135375" y="2270625"/>
            <a:ext cx="28537250" cy="1135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280375" y="14380700"/>
            <a:ext cx="34243000" cy="136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0"/>
            <a:ext cx="2120900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jp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-40329" y="0"/>
            <a:ext cx="30315541" cy="6003036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99466" y="518922"/>
            <a:ext cx="7955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"/>
              <a:buNone/>
            </a:pPr>
            <a:r>
              <a:rPr lang="en-US" sz="32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KOREA COMPUTER CONGRESS 2026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68680" y="1417320"/>
            <a:ext cx="2853842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Calibri"/>
              <a:buNone/>
            </a:pP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헤밍웨이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단편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소설에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LLM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lang="en-US" sz="4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서사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기능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전이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패턴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분석과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문학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비평의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정합성</a:t>
            </a:r>
            <a:r>
              <a:rPr lang="en-US" sz="49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9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sz="49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LLM-Based Analysis of Narrative Function Transition Patterns in Hemingway’s </a:t>
            </a:r>
            <a:br>
              <a:rPr lang="en-US" sz="5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Short Stories and Their Alignment with Literary Criticism</a:t>
            </a:r>
            <a:endParaRPr sz="5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endParaRPr sz="4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68680" y="4055364"/>
            <a:ext cx="28538424" cy="182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None/>
            </a:pPr>
            <a:r>
              <a:rPr lang="en-US" sz="3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이서우  ·  남고은  ·  허윤석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None/>
            </a:pPr>
            <a:r>
              <a:rPr lang="en-US" sz="3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서강대학교 영문학부  |  Division of English, Sogang University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None/>
            </a:pPr>
            <a:r>
              <a:rPr lang="en-US" sz="3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seowoo0202@sogang.ac.kr,  ggmhjm0@sogang.ac.kr,  nlpysheo@sogang.ac.kr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92937" y="8673788"/>
            <a:ext cx="502800" cy="502800"/>
          </a:xfrm>
          <a:prstGeom prst="roundRect">
            <a:avLst>
              <a:gd name="adj" fmla="val 18182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089" y="8746940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12205" y="825246"/>
            <a:ext cx="4802801" cy="405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900" y="6675838"/>
            <a:ext cx="14257019" cy="80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736900" y="6675838"/>
            <a:ext cx="14256900" cy="1188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028943" y="7009987"/>
            <a:ext cx="70419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 Background &amp; Motivation</a:t>
            </a:r>
            <a:endParaRPr sz="3118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405198" y="8310382"/>
            <a:ext cx="12920700" cy="827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405198" y="8310382"/>
            <a:ext cx="89400" cy="827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405350" y="8310375"/>
            <a:ext cx="12920700" cy="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7775" tIns="265125" rIns="397775" bIns="265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연구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목적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: LLM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기반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정량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분석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결과가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문학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비평가들의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정성적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평가와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정합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(Alignment)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하는지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검증</a:t>
            </a:r>
            <a:endParaRPr sz="1871" dirty="0">
              <a:solidFill>
                <a:srgbClr val="45010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26" name="Google Shape;26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05198" y="9609387"/>
            <a:ext cx="272888" cy="31187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1845161" y="9582934"/>
            <a:ext cx="16791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339"/>
              <a:buFont typeface="Roboto"/>
              <a:buNone/>
            </a:pPr>
            <a:r>
              <a:rPr lang="en-US" sz="2339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endParaRPr sz="233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405196" y="10304139"/>
            <a:ext cx="64602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7775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문체(Style)</a:t>
            </a:r>
            <a: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: 특정 텍스트를 구성하는 고유한 언어적 형태와 구조적 패턴 — 저자의 </a:t>
            </a:r>
            <a:r>
              <a:rPr lang="en-US" sz="1793" b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언어적 지문(Linguistic Fingerprint)</a:t>
            </a:r>
            <a:endParaRPr sz="1793" b="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405200" y="11114452"/>
            <a:ext cx="62373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7775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93"/>
              <a:buFont typeface="Open Sans"/>
              <a:buNone/>
            </a:pPr>
            <a: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기존 계량 문체론은 어휘 빈도, 통사 구조 등 </a:t>
            </a:r>
            <a:r>
              <a:rPr lang="en-US" sz="1715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미시적 특징</a:t>
            </a:r>
            <a: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분석에 집중</a:t>
            </a:r>
            <a:endParaRPr sz="1793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405200" y="12047302"/>
            <a:ext cx="62373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7775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93"/>
              <a:buFont typeface="Open Sans"/>
              <a:buNone/>
            </a:pP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서사가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지닌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15" dirty="0" err="1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거시적</a:t>
            </a:r>
            <a:r>
              <a:rPr lang="en-US" sz="1715" dirty="0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715" dirty="0" err="1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미학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(문장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간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연쇄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서사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흐름의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패턴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을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정량적으로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포착하는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데</a:t>
            </a:r>
            <a:r>
              <a:rPr lang="en-US" sz="1793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93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한계</a:t>
            </a:r>
            <a:endParaRPr sz="179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405198" y="10304139"/>
            <a:ext cx="107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405200" y="11114452"/>
            <a:ext cx="107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405200" y="12047302"/>
            <a:ext cx="107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8179" y="9609387"/>
            <a:ext cx="233905" cy="31187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8489157" y="9582934"/>
            <a:ext cx="3564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339"/>
              <a:buFont typeface="Roboto"/>
              <a:buNone/>
            </a:pPr>
            <a:r>
              <a:rPr lang="en-US" sz="2339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Research Gap &amp; Question</a:t>
            </a:r>
            <a:endParaRPr sz="233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088179" y="10304139"/>
            <a:ext cx="62373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7775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93"/>
              <a:buFont typeface="Open Sans"/>
              <a:buNone/>
            </a:pPr>
            <a: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LLM의 발전으로 방대한 말뭉치 내 담화 흐름 파악 및 </a:t>
            </a:r>
            <a:b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793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정교한 문체 분류가 가능해짐</a:t>
            </a:r>
            <a:endParaRPr sz="179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88179" y="11311023"/>
            <a:ext cx="62373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7775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93"/>
              <a:buFont typeface="Open Sans"/>
              <a:buNone/>
            </a:pPr>
            <a:r>
              <a:rPr lang="en-US" sz="1800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분석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단위를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어휘·통사에서</a:t>
            </a:r>
            <a:r>
              <a:rPr lang="en-US" sz="1800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 </a:t>
            </a:r>
            <a:r>
              <a:rPr lang="en-US" sz="1800" b="1" dirty="0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문장 </a:t>
            </a:r>
            <a:r>
              <a:rPr lang="en-US" sz="1800" b="1" dirty="0" err="1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간</a:t>
            </a:r>
            <a:r>
              <a:rPr lang="en-US" sz="1800" b="1" dirty="0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</a:t>
            </a:r>
            <a:r>
              <a:rPr lang="en-US" sz="1800" b="1" dirty="0" err="1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서사</a:t>
            </a:r>
            <a:r>
              <a:rPr lang="en-US" sz="1800" b="1" dirty="0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</a:t>
            </a:r>
            <a:r>
              <a:rPr lang="en-US" sz="1800" b="1" dirty="0" err="1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기능</a:t>
            </a:r>
            <a:r>
              <a:rPr lang="en-US" sz="1800" b="1" dirty="0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</a:t>
            </a:r>
            <a:r>
              <a:rPr lang="en-US" sz="1800" b="1" dirty="0" err="1">
                <a:solidFill>
                  <a:srgbClr val="1A365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전이</a:t>
            </a:r>
            <a:r>
              <a:rPr lang="en-US" sz="1800" b="1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로</a:t>
            </a: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 </a:t>
            </a:r>
            <a:r>
              <a:rPr lang="en-US" sz="1800" b="1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확장</a:t>
            </a:r>
            <a:r>
              <a:rPr lang="en-US" sz="1800" b="1" dirty="0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"/>
              </a:rPr>
              <a:t>필요</a:t>
            </a:r>
            <a:endParaRPr sz="18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088177" y="12247409"/>
            <a:ext cx="6707100" cy="177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8088175" y="11982296"/>
            <a:ext cx="6707100" cy="2162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331450" rIns="331450" bIns="33145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83"/>
              <a:buFont typeface="Open Sans SemiBold"/>
              <a:buNone/>
            </a:pPr>
            <a: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Research Question</a:t>
            </a:r>
            <a:endParaRPr sz="2183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8"/>
              <a:buFont typeface="Calibri"/>
              <a:buNone/>
            </a:pPr>
            <a:endParaRPr sz="468" b="1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83"/>
              <a:buFont typeface="Open Sans SemiBold"/>
              <a:buNone/>
            </a:pPr>
            <a: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헤밍웨이 특유의 "생략의 미학"을 문장 </a:t>
            </a:r>
            <a:r>
              <a:rPr lang="en-US" sz="2183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간</a:t>
            </a:r>
            <a: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전이 </a:t>
            </a:r>
            <a:b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</a:br>
            <a:r>
              <a:rPr lang="en-US" sz="2183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패턴으로</a:t>
            </a:r>
            <a: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</a:t>
            </a:r>
            <a:r>
              <a:rPr lang="en-US" sz="2183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정량적으로</a:t>
            </a:r>
            <a: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</a:t>
            </a:r>
            <a:r>
              <a:rPr lang="en-US" sz="2183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증명할</a:t>
            </a:r>
            <a: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</a:t>
            </a:r>
            <a:r>
              <a:rPr lang="en-US" sz="2183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수</a:t>
            </a:r>
            <a:r>
              <a:rPr lang="en-US" sz="218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Open Sans SemiBold"/>
              </a:rPr>
              <a:t> 있는가?</a:t>
            </a:r>
            <a:endParaRPr sz="2027" b="1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088179" y="10304139"/>
            <a:ext cx="107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8088179" y="11311023"/>
            <a:ext cx="107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935566" y="12899641"/>
            <a:ext cx="62373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7775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Wingdings" pitchFamily="2" charset="2"/>
              </a:rPr>
              <a:t>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기존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계량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문체론은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어휘·통사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층위에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머물러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서사의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거시적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미학을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포착하지</a:t>
            </a:r>
            <a:r>
              <a:rPr lang="en-US" sz="187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못했다</a:t>
            </a:r>
            <a:endParaRPr sz="187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2700" y="15298175"/>
            <a:ext cx="14257019" cy="80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"/>
          <p:cNvSpPr/>
          <p:nvPr/>
        </p:nvSpPr>
        <p:spPr>
          <a:xfrm>
            <a:off x="732700" y="15298175"/>
            <a:ext cx="14256900" cy="1269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1852100" y="15632325"/>
            <a:ext cx="80583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제안 방법 — 7가지 서사 기능 스키마 정의</a:t>
            </a:r>
            <a:endParaRPr sz="311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1178232" y="16768430"/>
            <a:ext cx="13365900" cy="985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178232" y="16768430"/>
            <a:ext cx="89400" cy="9855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189225" y="16768425"/>
            <a:ext cx="13354800" cy="9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050" tIns="132650" rIns="212050" bIns="1326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83"/>
              <a:buFont typeface="Open Sans SemiBold"/>
              <a:buNone/>
            </a:pPr>
            <a:r>
              <a:rPr lang="en-US" sz="218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비정형 소설 텍스트를 정형화된 기능 연쇄 데이터로 변환하기 위해 상호 배타적 7가지 서사 기능 스키마를 설계하고, Claude Opus 4.6을 분류기로 활용하는 LLM 파이프라인을 구축했다.</a:t>
            </a:r>
            <a:endParaRPr sz="187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183802" y="17848846"/>
            <a:ext cx="1335300" cy="4707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1A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183802" y="17848846"/>
            <a:ext cx="1335300" cy="4707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06100" tIns="106100" rIns="106100" bIns="106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태그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2519266" y="17848846"/>
            <a:ext cx="3338700" cy="4707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1A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2519266" y="17848846"/>
            <a:ext cx="3338700" cy="4707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06100" tIns="106100" rIns="106100" bIns="106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기능 정의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857972" y="17848846"/>
            <a:ext cx="8680500" cy="4707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1A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5857972" y="17848846"/>
            <a:ext cx="8680500" cy="4707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06100" tIns="106100" rIns="106100" bIns="106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예시 (주요작 발췌 예시)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461694" y="18380700"/>
            <a:ext cx="779700" cy="326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461694" y="18380700"/>
            <a:ext cx="779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53050" rIns="132650" bIns="53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Roboto"/>
              <a:buNone/>
            </a:pPr>
            <a:r>
              <a:rPr lang="en-US" sz="1403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2519266" y="18308300"/>
            <a:ext cx="33387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외부 객관적 관찰 및 장면 설정</a:t>
            </a:r>
            <a:endParaRPr sz="140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5857972" y="18308300"/>
            <a:ext cx="86805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81"/>
              <a:buFont typeface="Open Sans"/>
              <a:buNone/>
            </a:pPr>
            <a:r>
              <a:rPr lang="en-US" sz="1481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빗물에 씻겨 초록빛이 선명해진 테이블은 그대로였지만, 고양이는 사라지고 없었다.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1183802" y="18778894"/>
            <a:ext cx="13354800" cy="470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461694" y="18851292"/>
            <a:ext cx="779700" cy="3261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461694" y="18851292"/>
            <a:ext cx="779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53050" rIns="132650" bIns="53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Roboto"/>
              <a:buNone/>
            </a:pPr>
            <a:r>
              <a:rPr lang="en-US" sz="1403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ACT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2519266" y="18778894"/>
            <a:ext cx="33387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인물의 물리적 행위</a:t>
            </a:r>
            <a:endParaRPr sz="140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5857972" y="18778894"/>
            <a:ext cx="86805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81"/>
              <a:buFont typeface="Open Sans"/>
              <a:buNone/>
            </a:pPr>
            <a:r>
              <a:rPr lang="en-US" sz="1481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닉은 계단을 올라가 주방 문을 열었다.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461694" y="19321886"/>
            <a:ext cx="779700" cy="3261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461694" y="19321886"/>
            <a:ext cx="779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53050" rIns="132650" bIns="53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Roboto"/>
              <a:buNone/>
            </a:pPr>
            <a:r>
              <a:rPr lang="en-US" sz="1403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DIA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2519266" y="19249486"/>
            <a:ext cx="33387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등장인물 간 직접 대화</a:t>
            </a:r>
            <a:endParaRPr sz="140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5857972" y="19249486"/>
            <a:ext cx="86805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81"/>
              <a:buFont typeface="Open Sans"/>
              <a:buNone/>
            </a:pPr>
            <a:r>
              <a:rPr lang="en-US" sz="1481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"인디언 애인이라도 생긴 거니, 니키?"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1183802" y="19720080"/>
            <a:ext cx="13354800" cy="470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461694" y="19792479"/>
            <a:ext cx="779700" cy="3261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461694" y="19792479"/>
            <a:ext cx="779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53050" rIns="132650" bIns="53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Roboto"/>
              <a:buNone/>
            </a:pPr>
            <a:r>
              <a:rPr lang="en-US" sz="1403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2519266" y="19720080"/>
            <a:ext cx="33387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인물의 내면 심리 및 성찰</a:t>
            </a:r>
            <a:endParaRPr sz="140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5857972" y="19720080"/>
            <a:ext cx="86805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81"/>
              <a:buFont typeface="Open Sans"/>
              <a:buNone/>
            </a:pPr>
            <a:r>
              <a:rPr lang="en-US" sz="1481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…그는 자신이 결코 죽지 않을 것이라는 확신이 들었다.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1461694" y="20263073"/>
            <a:ext cx="779700" cy="3261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1461694" y="20263073"/>
            <a:ext cx="779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53050" rIns="132650" bIns="53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Roboto"/>
              <a:buNone/>
            </a:pPr>
            <a:r>
              <a:rPr lang="en-US" sz="1403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MEM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2519266" y="20190673"/>
            <a:ext cx="33387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과거 회상</a:t>
            </a:r>
            <a:endParaRPr sz="140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5857972" y="20190673"/>
            <a:ext cx="86805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81"/>
              <a:buFont typeface="Open Sans"/>
              <a:buNone/>
            </a:pPr>
            <a:r>
              <a:rPr lang="en-US" sz="1481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달큰한 탄내를 맡는 순간, 나는 어느새 1994년의 그 주방에 서 있었다.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1183802" y="20661267"/>
            <a:ext cx="13354800" cy="470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1461694" y="20733665"/>
            <a:ext cx="779700" cy="3261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1461694" y="20733665"/>
            <a:ext cx="779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53050" rIns="132650" bIns="53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Roboto"/>
              <a:buNone/>
            </a:pPr>
            <a:r>
              <a:rPr lang="en-US" sz="1403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2519266" y="20661267"/>
            <a:ext cx="33387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세부 묘사</a:t>
            </a:r>
            <a:endParaRPr sz="140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5857972" y="20661267"/>
            <a:ext cx="86805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81"/>
              <a:buFont typeface="Open Sans"/>
              <a:buNone/>
            </a:pPr>
            <a:r>
              <a:rPr lang="en-US" sz="1481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그의 몸이 침상을 짓누른 곳으로 피가 흘러 내려 웅덩이져 있었다.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1461694" y="21204257"/>
            <a:ext cx="779700" cy="3261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1461694" y="21204257"/>
            <a:ext cx="7797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53050" rIns="132650" bIns="53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3"/>
              <a:buFont typeface="Roboto"/>
              <a:buNone/>
            </a:pPr>
            <a:r>
              <a:rPr lang="en-US" sz="1403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</a:t>
            </a:r>
            <a:endParaRPr sz="140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519266" y="21131859"/>
            <a:ext cx="33387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03"/>
              <a:buFont typeface="Open Sans SemiBold"/>
              <a:buNone/>
            </a:pPr>
            <a:r>
              <a:rPr lang="en-US" sz="1403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작가의 직접적 시각/평가</a:t>
            </a:r>
            <a:endParaRPr sz="140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857972" y="21131859"/>
            <a:ext cx="86805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81"/>
              <a:buFont typeface="Open Sans"/>
              <a:buNone/>
            </a:pPr>
            <a:r>
              <a:rPr lang="en-US" sz="1481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그곳에 대학이 있다면, 많은 이들이 랑그도크나 몽펠리에로 가는 것을 더 선호했을 것이다.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178225" y="21875351"/>
            <a:ext cx="13455600" cy="584100"/>
          </a:xfrm>
          <a:prstGeom prst="rect">
            <a:avLst/>
          </a:prstGeom>
          <a:solidFill>
            <a:srgbClr val="FFFBE9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178232" y="21875340"/>
            <a:ext cx="44400" cy="5403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189225" y="21875350"/>
            <a:ext cx="129207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050" tIns="132650" rIns="212050" bIns="1326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Design Principle:</a:t>
            </a: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각 범주는 </a:t>
            </a:r>
            <a:r>
              <a:rPr lang="en-US" sz="1559" b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상호 배타성</a:t>
            </a: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을 지니도록 구성 → 비정형 텍스트를 데이터 시퀀스로 변환하는 기준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950" y="6675825"/>
            <a:ext cx="14257019" cy="80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5240950" y="6675850"/>
            <a:ext cx="14256900" cy="1188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6310227" y="7009988"/>
            <a:ext cx="6688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대표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연구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대상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— 헤밍웨이</a:t>
            </a:r>
            <a:endParaRPr sz="3118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5686482" y="8257481"/>
            <a:ext cx="13365900" cy="648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5686482" y="8257481"/>
            <a:ext cx="89400" cy="648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697500" y="8257475"/>
            <a:ext cx="133548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25" tIns="159200" rIns="265125" bIns="1592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71"/>
              <a:buFont typeface="Open Sans SemiBold"/>
              <a:buNone/>
            </a:pPr>
            <a:r>
              <a:rPr lang="en-US" sz="187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헤밍웨이의 작품은 표면 텍스트(ACT·OBS·DIA)와 함의(Subtext) 사이의 구조적 긴장으로 구현된다.</a:t>
            </a:r>
            <a:endParaRPr sz="187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686482" y="9000741"/>
            <a:ext cx="76188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06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339"/>
              <a:buFont typeface="Roboto"/>
              <a:buNone/>
            </a:pPr>
            <a:r>
              <a:rPr lang="en-US" sz="2339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Hemingway's Aesthetic</a:t>
            </a:r>
            <a:endParaRPr sz="233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5686482" y="9588288"/>
            <a:ext cx="76188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현대 소설가 중 </a:t>
            </a: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문체적 특징이 가장 극명</a:t>
            </a: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한 작가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5686482" y="10011543"/>
            <a:ext cx="76188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핵심 미학: </a:t>
            </a:r>
            <a:r>
              <a:rPr lang="en-US" sz="1637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생략(Omission)</a:t>
            </a:r>
            <a:r>
              <a:rPr lang="en-US" sz="1715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인물의 내면은 텍스트상으로 빙산의 일각처럼  일부만 드러남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5686482" y="10924887"/>
            <a:ext cx="76188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06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339"/>
              <a:buFont typeface="Roboto"/>
              <a:buNone/>
            </a:pPr>
            <a:r>
              <a:rPr lang="en-US" sz="2339" b="1" dirty="0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헤밍웨이 </a:t>
            </a:r>
            <a:r>
              <a:rPr lang="en-US" sz="2339" b="1" dirty="0" err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작품에</a:t>
            </a:r>
            <a:r>
              <a:rPr lang="en-US" sz="2339" b="1" dirty="0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39" b="1" dirty="0" err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대한</a:t>
            </a:r>
            <a:r>
              <a:rPr lang="en-US" sz="2339" b="1" dirty="0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39" b="1" dirty="0" err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문학</a:t>
            </a:r>
            <a:r>
              <a:rPr lang="en-US" sz="2339" b="1" dirty="0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39" b="1" dirty="0" err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비평가들의</a:t>
            </a:r>
            <a:r>
              <a:rPr lang="en-US" sz="2339" b="1" dirty="0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39" b="1" dirty="0" err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평가</a:t>
            </a:r>
            <a:endParaRPr sz="2339" b="1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5686482" y="11568124"/>
            <a:ext cx="76188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형식적 간결함과 의도적인 </a:t>
            </a: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내면성 생략 및 절제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5686482" y="11991381"/>
            <a:ext cx="7618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"/>
              <a:buNone/>
            </a:pPr>
            <a:r>
              <a:rPr lang="en-US" sz="155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인물 내면(INT)은 외부 관찰(OBS)과 물리적 행위(ACT) 사이에서 </a:t>
            </a: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단발적으로</a:t>
            </a:r>
            <a:r>
              <a:rPr lang="en-US" sz="155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등장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5686482" y="12510763"/>
            <a:ext cx="7885800" cy="2184900"/>
          </a:xfrm>
          <a:prstGeom prst="rect">
            <a:avLst/>
          </a:prstGeom>
          <a:solidFill>
            <a:srgbClr val="FFFBE9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5686482" y="12510763"/>
            <a:ext cx="83700" cy="2184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15861899" y="12482250"/>
            <a:ext cx="7758121" cy="2530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132650" rIns="132650" bIns="1326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71"/>
              <a:buFont typeface="Open Sans SemiBold"/>
              <a:buNone/>
            </a:pP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예시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: 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『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무기여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잘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있거라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』 -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캐서린의</a:t>
            </a: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죽음</a:t>
            </a:r>
            <a:b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"I went into the room and stayed with Catherine until she died. </a:t>
            </a:r>
            <a:b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lang="en-US" sz="187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 It did not take her very long to die.”</a:t>
            </a:r>
            <a:endParaRPr sz="2183" dirty="0">
              <a:solidFill>
                <a:srgbClr val="45010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Calibri"/>
              <a:buNone/>
            </a:pPr>
            <a:endParaRPr sz="936" dirty="0">
              <a:solidFill>
                <a:srgbClr val="45010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71"/>
              <a:buFont typeface="Open Sans SemiBold"/>
              <a:buNone/>
            </a:pP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[ACT] "went in / stayed" —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행동만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기술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,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감정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서술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없음</a:t>
            </a:r>
            <a:b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[INT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부재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] "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슬프다"는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표현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X →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독자가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무기력·허무·슬픔을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스스로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유추</a:t>
            </a:r>
            <a:b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Wingdings" pitchFamily="2" charset="2"/>
              </a:rPr>
              <a:t>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표층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(ACT)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이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함의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(INT)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를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대체하는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71" b="1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특징</a:t>
            </a:r>
            <a:r>
              <a:rPr lang="en-US" sz="1871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endParaRPr sz="1481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23672198" y="9129054"/>
            <a:ext cx="5480100" cy="5388000"/>
          </a:xfrm>
          <a:prstGeom prst="rect">
            <a:avLst/>
          </a:prstGeom>
          <a:solidFill>
            <a:srgbClr val="F8FAFC"/>
          </a:solidFill>
          <a:ln w="285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15686482" y="9610563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5686482" y="10033821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5686482" y="11590402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5686482" y="12013657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677766" y="9218161"/>
            <a:ext cx="5299047" cy="529904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/>
          <p:nvPr/>
        </p:nvSpPr>
        <p:spPr>
          <a:xfrm>
            <a:off x="25175323" y="10224105"/>
            <a:ext cx="25647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1"/>
              <a:buFont typeface="Open Sans SemiBold"/>
              <a:buNone/>
            </a:pPr>
            <a:r>
              <a:rPr lang="en-US" sz="1871" b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표면 (Text)</a:t>
            </a:r>
            <a:endParaRPr sz="1871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25119631" y="10561432"/>
            <a:ext cx="25647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1"/>
              <a:buFont typeface="Open Sans"/>
              <a:buNone/>
            </a:pPr>
            <a:r>
              <a:rPr lang="en-US" sz="1481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객관적 사실 · 물리적 행동</a:t>
            </a:r>
            <a:br>
              <a:rPr lang="en-US" sz="1481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481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독자에게 직접 제시되는 표층</a:t>
            </a:r>
            <a:endParaRPr sz="1481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24921925" y="11297360"/>
            <a:ext cx="2818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5"/>
              <a:buFont typeface="Open Sans SemiBold"/>
              <a:buNone/>
            </a:pPr>
            <a:r>
              <a:rPr lang="en-US" sz="2495" b="1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함의 (Subtext)</a:t>
            </a:r>
            <a:endParaRPr sz="249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24921925" y="11723402"/>
            <a:ext cx="28182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생략된 내면 · 감정 · 심리</a:t>
            </a:r>
            <a:br>
              <a:rPr lang="en-US" sz="1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독자가 직접 유추해야 할 </a:t>
            </a:r>
            <a:endParaRPr sz="2183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잠재층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245250" y="15298950"/>
            <a:ext cx="14256896" cy="801950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/>
          <p:nvPr/>
        </p:nvSpPr>
        <p:spPr>
          <a:xfrm>
            <a:off x="15245250" y="15298950"/>
            <a:ext cx="14256900" cy="1269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16264395" y="15608031"/>
            <a:ext cx="77577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코퍼스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구축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— 헤밍웨이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단편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소설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10편</a:t>
            </a:r>
            <a:endParaRPr sz="3118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15690778" y="16769193"/>
            <a:ext cx="5580300" cy="896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15690778" y="16769193"/>
            <a:ext cx="89400" cy="8967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15757825" y="16769200"/>
            <a:ext cx="55134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650" tIns="79600" rIns="132650" bIns="7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71"/>
              <a:buFont typeface="Open Sans SemiBold"/>
              <a:buNone/>
            </a:pPr>
            <a:r>
              <a:rPr lang="en-US" sz="187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헤밍웨이의 두 단편집에서 총 10편, 849개 문장을 분석 코퍼스로 구축했다.</a:t>
            </a:r>
            <a:endParaRPr sz="187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21493782" y="16978034"/>
            <a:ext cx="7563000" cy="479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21493782" y="16978034"/>
            <a:ext cx="66900" cy="479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694269" y="17094986"/>
            <a:ext cx="275671" cy="24504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/>
          <p:nvPr/>
        </p:nvSpPr>
        <p:spPr>
          <a:xfrm>
            <a:off x="22059046" y="17044864"/>
            <a:ext cx="23529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 b="1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Total:</a:t>
            </a:r>
            <a:r>
              <a:rPr lang="en-US" sz="1793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10편 · 849문장</a:t>
            </a:r>
            <a:endParaRPr sz="1715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4567926" y="17094986"/>
            <a:ext cx="306300" cy="24504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"/>
          <p:cNvSpPr/>
          <p:nvPr/>
        </p:nvSpPr>
        <p:spPr>
          <a:xfrm>
            <a:off x="24963332" y="17044864"/>
            <a:ext cx="39594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 b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Data Source:</a:t>
            </a:r>
            <a:r>
              <a:rPr lang="en-US" sz="1793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Project Gutenberg 등</a:t>
            </a:r>
            <a:endParaRPr sz="1715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15696347" y="17738216"/>
            <a:ext cx="4006200" cy="4761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15696347" y="17738216"/>
            <a:ext cx="4006200" cy="476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79600" tIns="79600" rIns="79600" bIns="79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5"/>
              <a:buFont typeface="Roboto"/>
              <a:buNone/>
            </a:pPr>
            <a:r>
              <a:rPr lang="en-US" sz="1715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단편집</a:t>
            </a:r>
            <a:endParaRPr sz="171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9702750" y="17738216"/>
            <a:ext cx="6677400" cy="4761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9702750" y="17738216"/>
            <a:ext cx="6677400" cy="476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79600" tIns="79600" rIns="79600" bIns="79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5"/>
              <a:buFont typeface="Roboto"/>
              <a:buNone/>
            </a:pPr>
            <a:r>
              <a:rPr lang="en-US" sz="1715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수록작</a:t>
            </a:r>
            <a:endParaRPr sz="171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26380103" y="17738216"/>
            <a:ext cx="2670900" cy="4761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26380103" y="17738216"/>
            <a:ext cx="2670900" cy="476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79600" tIns="79600" rIns="79600" bIns="79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5"/>
              <a:buFont typeface="Roboto"/>
              <a:buNone/>
            </a:pPr>
            <a:r>
              <a:rPr lang="en-US" sz="1715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단어 수</a:t>
            </a:r>
            <a:endParaRPr sz="171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5696347" y="18203237"/>
            <a:ext cx="4006200" cy="29238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16807079" y="19322627"/>
            <a:ext cx="17793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『우리 시대에』</a:t>
            </a:r>
            <a:endParaRPr sz="1715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17086925" y="19715248"/>
            <a:ext cx="1219500" cy="2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81"/>
              <a:buFont typeface="Open Sans"/>
              <a:buNone/>
            </a:pPr>
            <a:r>
              <a:rPr lang="en-US" sz="148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(In Our Time)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19702750" y="18203237"/>
            <a:ext cx="6677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"The Revolutionist"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26380103" y="18203237"/>
            <a:ext cx="2670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379단어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9702750" y="18620919"/>
            <a:ext cx="6677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"A Very Short Story"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26380103" y="18620919"/>
            <a:ext cx="2670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633단어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9702750" y="19038602"/>
            <a:ext cx="6677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"On the Quai at Smyrna"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26380103" y="19038602"/>
            <a:ext cx="2670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733단어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9702750" y="19456285"/>
            <a:ext cx="6677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"The Doctor and the Doctor's Wife"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26380103" y="19456285"/>
            <a:ext cx="2670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1,408단어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9702750" y="19873967"/>
            <a:ext cx="6677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"Cat in the Rain"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26380103" y="19873967"/>
            <a:ext cx="2670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1,140단어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9702750" y="20291650"/>
            <a:ext cx="6677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"The End of Something"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26380103" y="20291650"/>
            <a:ext cx="2670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1,427단어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9702750" y="20709333"/>
            <a:ext cx="6677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"Indian Camp"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26380103" y="20709333"/>
            <a:ext cx="2670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1,456단어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5696347" y="21127015"/>
            <a:ext cx="4006200" cy="12531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16525273" y="21413824"/>
            <a:ext cx="23337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『여자 없는 남자들』</a:t>
            </a:r>
            <a:endParaRPr sz="1715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16639440" y="21806446"/>
            <a:ext cx="2105400" cy="2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481"/>
              <a:buFont typeface="Open Sans"/>
              <a:buNone/>
            </a:pPr>
            <a:r>
              <a:rPr lang="en-US" sz="148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(Men Without Women)</a:t>
            </a:r>
            <a:endParaRPr sz="148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19698835" y="21127015"/>
            <a:ext cx="6680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"Banal Story"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26378972" y="21127015"/>
            <a:ext cx="26721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612단어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9698835" y="21544698"/>
            <a:ext cx="6680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"A Simple Enquiry"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26378972" y="21544698"/>
            <a:ext cx="26721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987단어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9698835" y="21962380"/>
            <a:ext cx="6680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"Ten Indians"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26378972" y="21962380"/>
            <a:ext cx="26721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53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1,586단어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245050" y="24051150"/>
            <a:ext cx="14257024" cy="896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/>
          <p:nvPr/>
        </p:nvSpPr>
        <p:spPr>
          <a:xfrm>
            <a:off x="15245050" y="24051150"/>
            <a:ext cx="14257200" cy="12447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16414573" y="24367080"/>
            <a:ext cx="80835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실험 결과 2 — 내면성(INT)의 구조적 제약</a:t>
            </a:r>
            <a:endParaRPr sz="311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5690582" y="25735030"/>
            <a:ext cx="13366200" cy="112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5690703" y="25588298"/>
            <a:ext cx="89400" cy="10302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5701900" y="25735025"/>
            <a:ext cx="133548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25" tIns="159175" rIns="265125" bIns="1591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71"/>
              <a:buFont typeface="Open Sans SemiBold"/>
              <a:buNone/>
            </a:pPr>
            <a:r>
              <a:rPr lang="en-US" sz="187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INT는 서사를 독립적으로 주도하지 못하고, 외부 흐름 사이에 일시적으로 삽입되는 "부수적 삽입구"로만 기능한다.</a:t>
            </a:r>
            <a:endParaRPr sz="187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5690582" y="27058948"/>
            <a:ext cx="7204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9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INT Transition Structure (N=46)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/>
          <p:nvPr/>
        </p:nvSpPr>
        <p:spPr>
          <a:xfrm>
            <a:off x="15696152" y="27629394"/>
            <a:ext cx="4037100" cy="5061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15696152" y="27629394"/>
            <a:ext cx="4037100" cy="506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9"/>
              <a:buFont typeface="Open Sans SemiBold"/>
              <a:buNone/>
            </a:pPr>
            <a:r>
              <a:rPr lang="en-US" sz="1559" dirty="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전이 </a:t>
            </a:r>
            <a:r>
              <a:rPr lang="en-US" sz="1559" dirty="0" err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구조</a:t>
            </a:r>
            <a:r>
              <a:rPr lang="en-US" sz="1559" dirty="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(Sequence)</a:t>
            </a:r>
            <a:endParaRPr sz="1559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19733483" y="27629394"/>
            <a:ext cx="1564200" cy="5061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"/>
          <p:cNvSpPr/>
          <p:nvPr/>
        </p:nvSpPr>
        <p:spPr>
          <a:xfrm>
            <a:off x="19733483" y="27629394"/>
            <a:ext cx="1564200" cy="506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횟수 (N)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21295762" y="27629394"/>
            <a:ext cx="1593600" cy="5061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21295762" y="27629394"/>
            <a:ext cx="1593600" cy="506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비율 (%)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15696152" y="28123576"/>
            <a:ext cx="40575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[ACT] → [INT] → [ACT]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19753888" y="28123576"/>
            <a:ext cx="155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9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21307900" y="28123576"/>
            <a:ext cx="1581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19.6%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15696152" y="28614708"/>
            <a:ext cx="7192800" cy="491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15696152" y="28614708"/>
            <a:ext cx="40575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[OBS] → [INT] → [ACT]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19753888" y="28614708"/>
            <a:ext cx="155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7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21307900" y="28614708"/>
            <a:ext cx="1581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15.2%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15696152" y="29105838"/>
            <a:ext cx="40575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[DIA] → [INT] → [DIA]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19753888" y="29105838"/>
            <a:ext cx="155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21307900" y="29105838"/>
            <a:ext cx="1581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8.7%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15696152" y="29596969"/>
            <a:ext cx="7192800" cy="506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15696152" y="29596969"/>
            <a:ext cx="71928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37"/>
              <a:buFont typeface="Open Sans"/>
              <a:buNone/>
            </a:pPr>
            <a:r>
              <a:rPr lang="en-US" sz="1637" i="1">
                <a:solidFill>
                  <a:srgbClr val="A0AEC0"/>
                </a:solidFill>
                <a:latin typeface="Open Sans"/>
                <a:ea typeface="Open Sans"/>
                <a:cs typeface="Open Sans"/>
                <a:sym typeface="Open Sans"/>
              </a:rPr>
              <a:t>(중략)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"/>
          <p:cNvSpPr/>
          <p:nvPr/>
        </p:nvSpPr>
        <p:spPr>
          <a:xfrm>
            <a:off x="15696152" y="30103354"/>
            <a:ext cx="7192800" cy="4911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15696152" y="30103354"/>
            <a:ext cx="4057500" cy="4911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15696152" y="30103354"/>
            <a:ext cx="40575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E53E3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[INT] → [X] → [INT]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19753888" y="30103354"/>
            <a:ext cx="1553700" cy="4911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/>
          <p:nvPr/>
        </p:nvSpPr>
        <p:spPr>
          <a:xfrm>
            <a:off x="19753888" y="30103354"/>
            <a:ext cx="155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E53E3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21307900" y="30103354"/>
            <a:ext cx="1581600" cy="4911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/>
          <p:nvPr/>
        </p:nvSpPr>
        <p:spPr>
          <a:xfrm>
            <a:off x="21307900" y="30103354"/>
            <a:ext cx="1581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E53E3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0.0%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"/>
          <p:cNvSpPr/>
          <p:nvPr/>
        </p:nvSpPr>
        <p:spPr>
          <a:xfrm>
            <a:off x="15696152" y="30594486"/>
            <a:ext cx="7192800" cy="506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"/>
          <p:cNvSpPr/>
          <p:nvPr/>
        </p:nvSpPr>
        <p:spPr>
          <a:xfrm>
            <a:off x="15696152" y="30594486"/>
            <a:ext cx="4057500" cy="5061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"/>
          <p:cNvSpPr/>
          <p:nvPr/>
        </p:nvSpPr>
        <p:spPr>
          <a:xfrm>
            <a:off x="15696152" y="30594486"/>
            <a:ext cx="40575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합계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/>
          <p:nvPr/>
        </p:nvSpPr>
        <p:spPr>
          <a:xfrm>
            <a:off x="19753888" y="30594486"/>
            <a:ext cx="1553700" cy="4941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19753888" y="30594486"/>
            <a:ext cx="15537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46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"/>
          <p:cNvSpPr/>
          <p:nvPr/>
        </p:nvSpPr>
        <p:spPr>
          <a:xfrm>
            <a:off x="21307900" y="30594486"/>
            <a:ext cx="1581600" cy="4941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21307900" y="30594486"/>
            <a:ext cx="1581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25" tIns="79625" rIns="79625" bIns="79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100%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/>
          <p:nvPr/>
        </p:nvSpPr>
        <p:spPr>
          <a:xfrm>
            <a:off x="23162167" y="27058948"/>
            <a:ext cx="5894700" cy="5630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"/>
          <p:cNvSpPr/>
          <p:nvPr/>
        </p:nvSpPr>
        <p:spPr>
          <a:xfrm>
            <a:off x="23162167" y="27058948"/>
            <a:ext cx="5894700" cy="97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29034270" y="26796792"/>
            <a:ext cx="22500" cy="5139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23162167" y="32665780"/>
            <a:ext cx="5894700" cy="24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23162167" y="27058948"/>
            <a:ext cx="22500" cy="5630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"/>
          <p:cNvSpPr/>
          <p:nvPr/>
        </p:nvSpPr>
        <p:spPr>
          <a:xfrm>
            <a:off x="24946777" y="27278586"/>
            <a:ext cx="2325300" cy="11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7718"/>
              <a:buFont typeface="Roboto"/>
              <a:buNone/>
            </a:pPr>
            <a:r>
              <a:rPr lang="en-US" sz="7718" b="1">
                <a:solidFill>
                  <a:srgbClr val="E53E3E"/>
                </a:solidFill>
                <a:latin typeface="Roboto"/>
                <a:ea typeface="Roboto"/>
                <a:cs typeface="Roboto"/>
                <a:sym typeface="Roboto"/>
              </a:rPr>
              <a:t>0.0%</a:t>
            </a:r>
            <a:endParaRPr sz="771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"/>
          <p:cNvSpPr/>
          <p:nvPr/>
        </p:nvSpPr>
        <p:spPr>
          <a:xfrm>
            <a:off x="24733755" y="28498788"/>
            <a:ext cx="2751300" cy="1012200"/>
          </a:xfrm>
          <a:prstGeom prst="rect">
            <a:avLst/>
          </a:prstGeom>
          <a:solidFill>
            <a:srgbClr val="FFFBE9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"/>
          <p:cNvSpPr/>
          <p:nvPr/>
        </p:nvSpPr>
        <p:spPr>
          <a:xfrm>
            <a:off x="24814150" y="28498800"/>
            <a:ext cx="26709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050" tIns="106100" rIns="212050" bIns="106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71"/>
              <a:buFont typeface="Open Sans SemiBold"/>
              <a:buNone/>
            </a:pPr>
            <a:r>
              <a:rPr lang="en-US" sz="1871" b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[INT] → [X] → [INT]</a:t>
            </a:r>
            <a:br>
              <a:rPr lang="en-US" sz="1871" b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lang="en-US" sz="1871" b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순환 구조 부재</a:t>
            </a:r>
            <a:endParaRPr sz="187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"/>
          <p:cNvSpPr/>
          <p:nvPr/>
        </p:nvSpPr>
        <p:spPr>
          <a:xfrm>
            <a:off x="23362657" y="29657980"/>
            <a:ext cx="5493000" cy="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470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내면 상태가 연속으로 이어지는 구조가 </a:t>
            </a: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완전히 부재</a:t>
            </a: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함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"/>
          <p:cNvSpPr/>
          <p:nvPr/>
        </p:nvSpPr>
        <p:spPr>
          <a:xfrm>
            <a:off x="23362657" y="30487718"/>
            <a:ext cx="5493000" cy="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470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"의식의 흐름(Stream of Consciousness)"과 </a:t>
            </a: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정반대</a:t>
            </a: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되는 패턴</a:t>
            </a:r>
            <a:endParaRPr sz="163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23362657" y="31317455"/>
            <a:ext cx="5493000" cy="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470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dirty="0" err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헤밍웨이의</a:t>
            </a:r>
            <a:r>
              <a:rPr lang="en-US" sz="1637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59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"생략의 미학"</a:t>
            </a:r>
            <a:r>
              <a:rPr lang="en-US" sz="1637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을 </a:t>
            </a:r>
            <a:r>
              <a:rPr lang="en-US" sz="1637" dirty="0" err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정량적</a:t>
            </a:r>
            <a:r>
              <a:rPr lang="en-US" sz="1637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데이터로</a:t>
            </a:r>
            <a:r>
              <a:rPr lang="en-US" sz="1637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완벽하게</a:t>
            </a:r>
            <a:r>
              <a:rPr lang="en-US" sz="1637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증명</a:t>
            </a:r>
            <a:endParaRPr sz="1637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23362657" y="29706788"/>
            <a:ext cx="107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23362657" y="30536526"/>
            <a:ext cx="107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23362657" y="31366263"/>
            <a:ext cx="1077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325"/>
              <a:buFont typeface="Open Sans"/>
              <a:buNone/>
            </a:pPr>
            <a:r>
              <a:rPr lang="en-US" sz="1325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325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5325" y="33571000"/>
            <a:ext cx="14257198" cy="801967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"/>
          <p:cNvSpPr/>
          <p:nvPr/>
        </p:nvSpPr>
        <p:spPr>
          <a:xfrm>
            <a:off x="715325" y="33571000"/>
            <a:ext cx="14257200" cy="11136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"/>
          <p:cNvSpPr/>
          <p:nvPr/>
        </p:nvSpPr>
        <p:spPr>
          <a:xfrm>
            <a:off x="1784615" y="33827184"/>
            <a:ext cx="91389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종합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분석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— 헤밍웨이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서사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문법의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정량적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재현</a:t>
            </a:r>
            <a:endParaRPr sz="3118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"/>
          <p:cNvSpPr/>
          <p:nvPr/>
        </p:nvSpPr>
        <p:spPr>
          <a:xfrm>
            <a:off x="1160863" y="34818505"/>
            <a:ext cx="13366200" cy="779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"/>
          <p:cNvSpPr/>
          <p:nvPr/>
        </p:nvSpPr>
        <p:spPr>
          <a:xfrm>
            <a:off x="1160863" y="34818505"/>
            <a:ext cx="89400" cy="7797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1171500" y="34929763"/>
            <a:ext cx="13354800" cy="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50" tIns="0" rIns="26515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71"/>
              <a:buFont typeface="Open Sans SemiBold"/>
              <a:buNone/>
            </a:pPr>
            <a:r>
              <a:rPr lang="en-US" sz="187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LLM 기반 분석이 도출한 두 가지 핵심 발견은 전통적 문학 비평 담론을 정량적 지표로 재확인한다.</a:t>
            </a:r>
            <a:endParaRPr sz="187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1160863" y="35820966"/>
            <a:ext cx="6460200" cy="218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/>
          <p:nvPr/>
        </p:nvSpPr>
        <p:spPr>
          <a:xfrm>
            <a:off x="1160863" y="35820966"/>
            <a:ext cx="6460200" cy="66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"/>
          <p:cNvSpPr/>
          <p:nvPr/>
        </p:nvSpPr>
        <p:spPr>
          <a:xfrm>
            <a:off x="7598880" y="35820966"/>
            <a:ext cx="22500" cy="2183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"/>
          <p:cNvSpPr/>
          <p:nvPr/>
        </p:nvSpPr>
        <p:spPr>
          <a:xfrm>
            <a:off x="1160863" y="37981823"/>
            <a:ext cx="6460200" cy="2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1160863" y="35820966"/>
            <a:ext cx="22500" cy="2183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"/>
          <p:cNvSpPr/>
          <p:nvPr/>
        </p:nvSpPr>
        <p:spPr>
          <a:xfrm>
            <a:off x="1383631" y="35954627"/>
            <a:ext cx="59925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027"/>
              <a:buFont typeface="Roboto"/>
              <a:buNone/>
            </a:pPr>
            <a:r>
              <a:rPr lang="en-US" sz="2027" b="1" dirty="0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① ACT = </a:t>
            </a:r>
            <a:r>
              <a:rPr lang="en-US" sz="2027" b="1" dirty="0" err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서사의</a:t>
            </a:r>
            <a:r>
              <a:rPr lang="en-US" sz="2027" b="1" dirty="0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 전이 </a:t>
            </a:r>
            <a:r>
              <a:rPr lang="en-US" sz="2027" b="1" dirty="0" err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허브</a:t>
            </a:r>
            <a:endParaRPr sz="2027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1383631" y="36500410"/>
            <a:ext cx="59925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물리적 행동이 서사 전반을 연결하는 중추적 허브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"/>
          <p:cNvSpPr/>
          <p:nvPr/>
        </p:nvSpPr>
        <p:spPr>
          <a:xfrm>
            <a:off x="1383631" y="36923671"/>
            <a:ext cx="59925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사실 중심의 표면적 구조 형성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"/>
          <p:cNvSpPr/>
          <p:nvPr/>
        </p:nvSpPr>
        <p:spPr>
          <a:xfrm>
            <a:off x="1383631" y="37402624"/>
            <a:ext cx="5454900" cy="378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/>
          <p:nvPr/>
        </p:nvSpPr>
        <p:spPr>
          <a:xfrm>
            <a:off x="1383631" y="37402624"/>
            <a:ext cx="44400" cy="378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"/>
          <p:cNvSpPr/>
          <p:nvPr/>
        </p:nvSpPr>
        <p:spPr>
          <a:xfrm>
            <a:off x="1383625" y="37402625"/>
            <a:ext cx="54549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DIA→ACT(0.59), DES→ACT(0.45), OBS→ACT(0.43)</a:t>
            </a:r>
            <a:endParaRPr sz="155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8044418" y="35820966"/>
            <a:ext cx="6482700" cy="218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8044418" y="35820966"/>
            <a:ext cx="6482700" cy="66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"/>
          <p:cNvSpPr/>
          <p:nvPr/>
        </p:nvSpPr>
        <p:spPr>
          <a:xfrm>
            <a:off x="14504711" y="35745141"/>
            <a:ext cx="22500" cy="2183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"/>
          <p:cNvSpPr/>
          <p:nvPr/>
        </p:nvSpPr>
        <p:spPr>
          <a:xfrm>
            <a:off x="8044418" y="37981823"/>
            <a:ext cx="6482700" cy="2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/>
          <p:nvPr/>
        </p:nvSpPr>
        <p:spPr>
          <a:xfrm>
            <a:off x="8044418" y="35820966"/>
            <a:ext cx="22500" cy="2183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1383631" y="36544963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"/>
          <p:cNvSpPr/>
          <p:nvPr/>
        </p:nvSpPr>
        <p:spPr>
          <a:xfrm>
            <a:off x="1383631" y="36968225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8289463" y="35954627"/>
            <a:ext cx="60150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027"/>
              <a:buFont typeface="Roboto"/>
              <a:buNone/>
            </a:pPr>
            <a:r>
              <a:rPr lang="en-US" sz="2027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② INT = 부수적 삽입구</a:t>
            </a:r>
            <a:endParaRPr sz="2027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8289463" y="36500410"/>
            <a:ext cx="6015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내면성은 독자적으로 서사를 주도하지 못함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"/>
          <p:cNvSpPr/>
          <p:nvPr/>
        </p:nvSpPr>
        <p:spPr>
          <a:xfrm>
            <a:off x="8289463" y="36923671"/>
            <a:ext cx="6015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외부 행동 사이에 일시적으로만 배치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"/>
          <p:cNvSpPr/>
          <p:nvPr/>
        </p:nvSpPr>
        <p:spPr>
          <a:xfrm>
            <a:off x="8289463" y="37402624"/>
            <a:ext cx="5480100" cy="378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"/>
          <p:cNvSpPr/>
          <p:nvPr/>
        </p:nvSpPr>
        <p:spPr>
          <a:xfrm>
            <a:off x="8289463" y="37402624"/>
            <a:ext cx="44400" cy="378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"/>
          <p:cNvSpPr/>
          <p:nvPr/>
        </p:nvSpPr>
        <p:spPr>
          <a:xfrm>
            <a:off x="8289475" y="37402625"/>
            <a:ext cx="54801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200" tIns="53050" rIns="15920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7D010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[INT]→[X]→[INT] = 0.0% (연속 내면 서술 완전 부재)</a:t>
            </a:r>
            <a:endParaRPr sz="155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"/>
          <p:cNvSpPr/>
          <p:nvPr/>
        </p:nvSpPr>
        <p:spPr>
          <a:xfrm>
            <a:off x="8289463" y="36544963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"/>
          <p:cNvSpPr/>
          <p:nvPr/>
        </p:nvSpPr>
        <p:spPr>
          <a:xfrm>
            <a:off x="8289463" y="36968225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60863" y="38161430"/>
            <a:ext cx="289600" cy="2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"/>
          <p:cNvSpPr/>
          <p:nvPr/>
        </p:nvSpPr>
        <p:spPr>
          <a:xfrm>
            <a:off x="1584124" y="38137762"/>
            <a:ext cx="42801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Alignment with Literary Criticism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/>
          <p:nvPr/>
        </p:nvSpPr>
        <p:spPr>
          <a:xfrm>
            <a:off x="1166432" y="38647344"/>
            <a:ext cx="5341800" cy="5346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1A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"/>
          <p:cNvSpPr/>
          <p:nvPr/>
        </p:nvSpPr>
        <p:spPr>
          <a:xfrm>
            <a:off x="1166432" y="38647344"/>
            <a:ext cx="5341800" cy="5346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문학 비평 논지</a:t>
            </a:r>
            <a:endParaRPr sz="171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6508401" y="38647344"/>
            <a:ext cx="8013000" cy="5346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1A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"/>
          <p:cNvSpPr/>
          <p:nvPr/>
        </p:nvSpPr>
        <p:spPr>
          <a:xfrm>
            <a:off x="6508401" y="38647344"/>
            <a:ext cx="8013000" cy="5346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정량적 증거</a:t>
            </a:r>
            <a:endParaRPr sz="171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"/>
          <p:cNvSpPr/>
          <p:nvPr/>
        </p:nvSpPr>
        <p:spPr>
          <a:xfrm>
            <a:off x="1166432" y="39176420"/>
            <a:ext cx="5341800" cy="5346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"/>
          <p:cNvSpPr/>
          <p:nvPr/>
        </p:nvSpPr>
        <p:spPr>
          <a:xfrm>
            <a:off x="1166432" y="39176420"/>
            <a:ext cx="53418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내면성 생략 및 절제</a:t>
            </a:r>
            <a:endParaRPr sz="1715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"/>
          <p:cNvSpPr/>
          <p:nvPr/>
        </p:nvSpPr>
        <p:spPr>
          <a:xfrm>
            <a:off x="6508401" y="39176420"/>
            <a:ext cx="80130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INT 비중 12.4%, 연속 INT 0.0%</a:t>
            </a:r>
            <a:endParaRPr sz="1715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"/>
          <p:cNvSpPr/>
          <p:nvPr/>
        </p:nvSpPr>
        <p:spPr>
          <a:xfrm>
            <a:off x="1166432" y="39711065"/>
            <a:ext cx="13354800" cy="53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"/>
          <p:cNvSpPr/>
          <p:nvPr/>
        </p:nvSpPr>
        <p:spPr>
          <a:xfrm>
            <a:off x="1166432" y="39711065"/>
            <a:ext cx="5341800" cy="5346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"/>
          <p:cNvSpPr/>
          <p:nvPr/>
        </p:nvSpPr>
        <p:spPr>
          <a:xfrm>
            <a:off x="1166432" y="39711065"/>
            <a:ext cx="53418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객관적 사실 중심 서술</a:t>
            </a:r>
            <a:endParaRPr sz="1715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"/>
          <p:cNvSpPr/>
          <p:nvPr/>
        </p:nvSpPr>
        <p:spPr>
          <a:xfrm>
            <a:off x="6508401" y="39711065"/>
            <a:ext cx="80130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715"/>
              <a:buFont typeface="Open Sans SemiBold"/>
              <a:buNone/>
            </a:pPr>
            <a:r>
              <a:rPr lang="en-US" sz="1715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ACT + DIA + OBS = 74.9%</a:t>
            </a:r>
            <a:endParaRPr sz="1715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1166432" y="40245711"/>
            <a:ext cx="5341800" cy="5346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"/>
          <p:cNvSpPr/>
          <p:nvPr/>
        </p:nvSpPr>
        <p:spPr>
          <a:xfrm>
            <a:off x="1166432" y="40245711"/>
            <a:ext cx="53418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715"/>
              <a:buFont typeface="Open Sans SemiBold"/>
              <a:buNone/>
            </a:pPr>
            <a:r>
              <a:rPr lang="en-US" sz="1715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빙산</a:t>
            </a:r>
            <a:r>
              <a:rPr lang="en-US" sz="1715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715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이론</a:t>
            </a:r>
            <a:r>
              <a:rPr lang="en-US" sz="1715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(생략의 </a:t>
            </a:r>
            <a:r>
              <a:rPr lang="en-US" sz="1715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미학</a:t>
            </a:r>
            <a:r>
              <a:rPr lang="en-US" sz="1715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)</a:t>
            </a:r>
            <a:endParaRPr sz="1715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"/>
          <p:cNvSpPr/>
          <p:nvPr/>
        </p:nvSpPr>
        <p:spPr>
          <a:xfrm>
            <a:off x="6505050" y="40245711"/>
            <a:ext cx="8016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715"/>
              <a:buFont typeface="Open Sans SemiBold"/>
              <a:buNone/>
            </a:pPr>
            <a:r>
              <a:rPr lang="en-US" sz="1715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ACT 전이 </a:t>
            </a:r>
            <a:r>
              <a:rPr lang="en-US" sz="1715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허브</a:t>
            </a:r>
            <a:r>
              <a:rPr lang="en-US" sz="1715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715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구조</a:t>
            </a:r>
            <a:endParaRPr sz="1715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62330" y="33570150"/>
            <a:ext cx="14257178" cy="801966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"/>
          <p:cNvSpPr/>
          <p:nvPr/>
        </p:nvSpPr>
        <p:spPr>
          <a:xfrm>
            <a:off x="15262325" y="33570150"/>
            <a:ext cx="14257200" cy="11136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"/>
          <p:cNvSpPr/>
          <p:nvPr/>
        </p:nvSpPr>
        <p:spPr>
          <a:xfrm>
            <a:off x="16158978" y="33849313"/>
            <a:ext cx="24507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결론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및</a:t>
            </a:r>
            <a:r>
              <a:rPr lang="en-US" sz="3118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18" b="1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의의</a:t>
            </a:r>
            <a:endParaRPr sz="3118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"/>
          <p:cNvSpPr/>
          <p:nvPr/>
        </p:nvSpPr>
        <p:spPr>
          <a:xfrm>
            <a:off x="15663315" y="35129532"/>
            <a:ext cx="13455600" cy="985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"/>
          <p:cNvSpPr/>
          <p:nvPr/>
        </p:nvSpPr>
        <p:spPr>
          <a:xfrm>
            <a:off x="15663315" y="35129532"/>
            <a:ext cx="89400" cy="9855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"/>
          <p:cNvSpPr/>
          <p:nvPr/>
        </p:nvSpPr>
        <p:spPr>
          <a:xfrm>
            <a:off x="15663325" y="35129525"/>
            <a:ext cx="134556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050" tIns="132650" rIns="212050" bIns="1326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71"/>
              <a:buFont typeface="Open Sans SemiBold"/>
              <a:buNone/>
            </a:pPr>
            <a:r>
              <a:rPr lang="en-US" sz="187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본 연구는 문학 비평의 질적 담론을 LLM 기반 정량적 방법론으로 실증한 학제 간 융합 연구의 새로운 모델을 제시한다.</a:t>
            </a:r>
            <a:endParaRPr sz="1871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5663315" y="36319952"/>
            <a:ext cx="311877" cy="31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"/>
          <p:cNvSpPr/>
          <p:nvPr/>
        </p:nvSpPr>
        <p:spPr>
          <a:xfrm>
            <a:off x="16108854" y="36293499"/>
            <a:ext cx="1732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339"/>
              <a:buFont typeface="Roboto"/>
              <a:buNone/>
            </a:pPr>
            <a:r>
              <a:rPr lang="en-US" sz="2339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Conclusions</a:t>
            </a:r>
            <a:endParaRPr sz="233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"/>
          <p:cNvSpPr/>
          <p:nvPr/>
        </p:nvSpPr>
        <p:spPr>
          <a:xfrm>
            <a:off x="15663315" y="36836498"/>
            <a:ext cx="7228800" cy="9579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"/>
          <p:cNvSpPr/>
          <p:nvPr/>
        </p:nvSpPr>
        <p:spPr>
          <a:xfrm>
            <a:off x="15796977" y="36970159"/>
            <a:ext cx="3339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"/>
          <p:cNvSpPr/>
          <p:nvPr/>
        </p:nvSpPr>
        <p:spPr>
          <a:xfrm>
            <a:off x="16264794" y="36970159"/>
            <a:ext cx="6493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헤밍웨이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단편의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서사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전개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패턴을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59" dirty="0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문장 </a:t>
            </a:r>
            <a:r>
              <a:rPr lang="en-US" sz="1559" dirty="0" err="1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기능</a:t>
            </a:r>
            <a:r>
              <a:rPr lang="en-US" sz="1559" dirty="0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559" dirty="0" err="1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전이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라는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통계적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지표로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실증적으로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규명</a:t>
            </a:r>
            <a:endParaRPr sz="163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"/>
          <p:cNvSpPr/>
          <p:nvPr/>
        </p:nvSpPr>
        <p:spPr>
          <a:xfrm>
            <a:off x="15663315" y="37838957"/>
            <a:ext cx="7228800" cy="9579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"/>
          <p:cNvSpPr/>
          <p:nvPr/>
        </p:nvSpPr>
        <p:spPr>
          <a:xfrm>
            <a:off x="15796977" y="37972618"/>
            <a:ext cx="3339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"/>
          <p:cNvSpPr/>
          <p:nvPr/>
        </p:nvSpPr>
        <p:spPr>
          <a:xfrm>
            <a:off x="16264794" y="37972618"/>
            <a:ext cx="6493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ACT-DIA 중심의 지배적 객관적 서사 구조</a:t>
            </a: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→ 표면적 서사 구조 확인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"/>
          <p:cNvSpPr/>
          <p:nvPr/>
        </p:nvSpPr>
        <p:spPr>
          <a:xfrm>
            <a:off x="15663315" y="38841417"/>
            <a:ext cx="7228800" cy="6543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"/>
          <p:cNvSpPr/>
          <p:nvPr/>
        </p:nvSpPr>
        <p:spPr>
          <a:xfrm>
            <a:off x="15796977" y="38975078"/>
            <a:ext cx="3339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"/>
          <p:cNvSpPr/>
          <p:nvPr/>
        </p:nvSpPr>
        <p:spPr>
          <a:xfrm>
            <a:off x="16264794" y="38975078"/>
            <a:ext cx="63600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INT의</a:t>
            </a:r>
            <a:r>
              <a:rPr lang="en-US" sz="1559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559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제한적</a:t>
            </a:r>
            <a:r>
              <a:rPr lang="en-US" sz="1559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559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활용</a:t>
            </a:r>
            <a:r>
              <a:rPr lang="en-US" sz="1637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→ 헤밍웨이 "생략의 미학"을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정량적으로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입증</a:t>
            </a:r>
            <a:endParaRPr sz="163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"/>
          <p:cNvSpPr/>
          <p:nvPr/>
        </p:nvSpPr>
        <p:spPr>
          <a:xfrm>
            <a:off x="15663315" y="39540353"/>
            <a:ext cx="7228800" cy="9579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"/>
          <p:cNvSpPr/>
          <p:nvPr/>
        </p:nvSpPr>
        <p:spPr>
          <a:xfrm>
            <a:off x="15796977" y="39674015"/>
            <a:ext cx="3339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"/>
          <p:cNvSpPr/>
          <p:nvPr/>
        </p:nvSpPr>
        <p:spPr>
          <a:xfrm>
            <a:off x="16264794" y="39674015"/>
            <a:ext cx="6493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어휘·통사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중심의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미시적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연구를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넘어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559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문장 </a:t>
            </a:r>
            <a:r>
              <a:rPr lang="en-US" sz="1559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단위의</a:t>
            </a:r>
            <a:r>
              <a:rPr lang="en-US" sz="1559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559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서사적</a:t>
            </a:r>
            <a:r>
              <a:rPr lang="en-US" sz="1559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559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문법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을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포착하는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새로운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방법론</a:t>
            </a:r>
            <a:r>
              <a:rPr lang="en-US" sz="1637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제시</a:t>
            </a:r>
            <a:endParaRPr sz="163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3204062" y="36319952"/>
            <a:ext cx="350860" cy="31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"/>
          <p:cNvSpPr/>
          <p:nvPr/>
        </p:nvSpPr>
        <p:spPr>
          <a:xfrm>
            <a:off x="23688585" y="36293499"/>
            <a:ext cx="17349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339"/>
              <a:buFont typeface="Roboto"/>
              <a:buNone/>
            </a:pPr>
            <a:r>
              <a:rPr lang="en-US" sz="2339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Significance</a:t>
            </a:r>
            <a:endParaRPr sz="233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"/>
          <p:cNvSpPr/>
          <p:nvPr/>
        </p:nvSpPr>
        <p:spPr>
          <a:xfrm>
            <a:off x="23204062" y="36836498"/>
            <a:ext cx="59142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인문학 + 전산학</a:t>
            </a: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학제 간 융합 연구의 실증적 모델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"/>
          <p:cNvSpPr/>
          <p:nvPr/>
        </p:nvSpPr>
        <p:spPr>
          <a:xfrm>
            <a:off x="23204062" y="37259758"/>
            <a:ext cx="5914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전통적 서사 비평 담론을 </a:t>
            </a: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데이터 기반 정량적 지표</a:t>
            </a: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로 재확인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"/>
          <p:cNvSpPr/>
          <p:nvPr/>
        </p:nvSpPr>
        <p:spPr>
          <a:xfrm>
            <a:off x="23204062" y="38017172"/>
            <a:ext cx="5914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LLM을 문학 분석 도구로 활용하는 </a:t>
            </a: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전산 문체론</a:t>
            </a: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의 새로운 방향 제시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"/>
          <p:cNvSpPr/>
          <p:nvPr/>
        </p:nvSpPr>
        <p:spPr>
          <a:xfrm>
            <a:off x="23204050" y="38908250"/>
            <a:ext cx="5914200" cy="2147100"/>
          </a:xfrm>
          <a:prstGeom prst="rect">
            <a:avLst/>
          </a:prstGeom>
          <a:solidFill>
            <a:srgbClr val="FFFBE9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"/>
          <p:cNvSpPr/>
          <p:nvPr/>
        </p:nvSpPr>
        <p:spPr>
          <a:xfrm>
            <a:off x="23204062" y="38908247"/>
            <a:ext cx="44400" cy="21471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50" rIns="142550" bIns="71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"/>
          <p:cNvSpPr/>
          <p:nvPr/>
        </p:nvSpPr>
        <p:spPr>
          <a:xfrm>
            <a:off x="23204062" y="36858774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"/>
          <p:cNvSpPr/>
          <p:nvPr/>
        </p:nvSpPr>
        <p:spPr>
          <a:xfrm>
            <a:off x="23204062" y="37282035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"/>
          <p:cNvSpPr/>
          <p:nvPr/>
        </p:nvSpPr>
        <p:spPr>
          <a:xfrm>
            <a:off x="23204062" y="38039449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3404553" y="39135192"/>
            <a:ext cx="311877" cy="31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"/>
          <p:cNvSpPr/>
          <p:nvPr/>
        </p:nvSpPr>
        <p:spPr>
          <a:xfrm>
            <a:off x="23850092" y="39108739"/>
            <a:ext cx="17040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339"/>
              <a:buFont typeface="Roboto"/>
              <a:buNone/>
            </a:pPr>
            <a:r>
              <a:rPr lang="en-US" sz="2339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Future Work</a:t>
            </a:r>
            <a:endParaRPr sz="2339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"/>
          <p:cNvSpPr/>
          <p:nvPr/>
        </p:nvSpPr>
        <p:spPr>
          <a:xfrm>
            <a:off x="23404553" y="39562631"/>
            <a:ext cx="55134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81"/>
              <a:buFont typeface="Open Sans"/>
              <a:buNone/>
            </a:pP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분석</a:t>
            </a:r>
            <a: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코퍼스를</a:t>
            </a:r>
            <a: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헤밍웨이 </a:t>
            </a: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전집으로</a:t>
            </a:r>
            <a: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확대</a:t>
            </a:r>
            <a:b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481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→ </a:t>
            </a:r>
            <a:r>
              <a:rPr lang="en-US" sz="140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패턴의</a:t>
            </a:r>
            <a:r>
              <a:rPr lang="en-US" sz="140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40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일반성</a:t>
            </a:r>
            <a:r>
              <a:rPr lang="en-US" sz="140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40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재확인</a:t>
            </a:r>
            <a:endParaRPr sz="1481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"/>
          <p:cNvSpPr/>
          <p:nvPr/>
        </p:nvSpPr>
        <p:spPr>
          <a:xfrm>
            <a:off x="23404553" y="40253213"/>
            <a:ext cx="55134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5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81"/>
              <a:buFont typeface="Open Sans"/>
              <a:buNone/>
            </a:pP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타</a:t>
            </a:r>
            <a: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작가군에</a:t>
            </a:r>
            <a: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동일</a:t>
            </a:r>
            <a: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방법론</a:t>
            </a:r>
            <a: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81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적용</a:t>
            </a:r>
            <a:br>
              <a:rPr lang="en-US" sz="148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481" dirty="0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→ </a:t>
            </a:r>
            <a:r>
              <a:rPr lang="en-US" sz="140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헤밍웨이 </a:t>
            </a:r>
            <a:r>
              <a:rPr lang="en-US" sz="140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고유</a:t>
            </a:r>
            <a:r>
              <a:rPr lang="en-US" sz="140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40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문체적</a:t>
            </a:r>
            <a:r>
              <a:rPr lang="en-US" sz="140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40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정체성</a:t>
            </a:r>
            <a:r>
              <a:rPr lang="en-US" sz="140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40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검증</a:t>
            </a:r>
            <a:endParaRPr sz="1481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"/>
          <p:cNvSpPr/>
          <p:nvPr/>
        </p:nvSpPr>
        <p:spPr>
          <a:xfrm>
            <a:off x="23404553" y="39584907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23404553" y="40275491"/>
            <a:ext cx="939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20425" y="24051650"/>
            <a:ext cx="14256900" cy="896346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720425" y="24051650"/>
            <a:ext cx="14256900" cy="12699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"/>
          <p:cNvSpPr/>
          <p:nvPr/>
        </p:nvSpPr>
        <p:spPr>
          <a:xfrm>
            <a:off x="1789694" y="24385797"/>
            <a:ext cx="57198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18"/>
              <a:buFont typeface="Roboto"/>
              <a:buNone/>
            </a:pPr>
            <a:r>
              <a:rPr lang="en-US" sz="3118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실험 결과 1 — 서사 기능 분포</a:t>
            </a:r>
            <a:endParaRPr sz="311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"/>
          <p:cNvSpPr/>
          <p:nvPr/>
        </p:nvSpPr>
        <p:spPr>
          <a:xfrm>
            <a:off x="1165954" y="25633276"/>
            <a:ext cx="13365900" cy="1030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"/>
          <p:cNvSpPr/>
          <p:nvPr/>
        </p:nvSpPr>
        <p:spPr>
          <a:xfrm>
            <a:off x="1165954" y="25633276"/>
            <a:ext cx="89400" cy="10305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"/>
          <p:cNvSpPr/>
          <p:nvPr/>
        </p:nvSpPr>
        <p:spPr>
          <a:xfrm>
            <a:off x="1176950" y="25633275"/>
            <a:ext cx="13354800" cy="10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5150" tIns="159175" rIns="265150" bIns="1591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83"/>
              <a:buFont typeface="Open Sans SemiBold"/>
              <a:buNone/>
            </a:pP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물리적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행위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(ACT),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대화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(DIA),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외부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관찰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(OBS)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이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전체의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약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75%를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차지하며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,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ACT는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DIA→ACT(0.59), DES→ACT(0.45), OBS→ACT(0.43)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의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전이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허브로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2183" dirty="0" err="1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기능한다</a:t>
            </a:r>
            <a:r>
              <a:rPr lang="en-US" sz="2183" dirty="0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.</a:t>
            </a:r>
            <a:endParaRPr sz="1871" dirty="0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"/>
          <p:cNvSpPr/>
          <p:nvPr/>
        </p:nvSpPr>
        <p:spPr>
          <a:xfrm>
            <a:off x="1165954" y="26886323"/>
            <a:ext cx="5864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06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Narrative Function Distribution (N=849)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"/>
          <p:cNvSpPr/>
          <p:nvPr/>
        </p:nvSpPr>
        <p:spPr>
          <a:xfrm>
            <a:off x="1171523" y="27507278"/>
            <a:ext cx="1921800" cy="5958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"/>
          <p:cNvSpPr/>
          <p:nvPr/>
        </p:nvSpPr>
        <p:spPr>
          <a:xfrm>
            <a:off x="1171523" y="27507278"/>
            <a:ext cx="1921800" cy="5958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59175" tIns="159175" rIns="159175" bIns="159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태그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"/>
          <p:cNvSpPr/>
          <p:nvPr/>
        </p:nvSpPr>
        <p:spPr>
          <a:xfrm>
            <a:off x="3093606" y="27507278"/>
            <a:ext cx="1735500" cy="5958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"/>
          <p:cNvSpPr/>
          <p:nvPr/>
        </p:nvSpPr>
        <p:spPr>
          <a:xfrm>
            <a:off x="3093606" y="27507278"/>
            <a:ext cx="1735500" cy="5958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59175" tIns="159175" rIns="159175" bIns="159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빈도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"/>
          <p:cNvSpPr/>
          <p:nvPr/>
        </p:nvSpPr>
        <p:spPr>
          <a:xfrm>
            <a:off x="4823816" y="27507278"/>
            <a:ext cx="2200800" cy="595800"/>
          </a:xfrm>
          <a:prstGeom prst="rect">
            <a:avLst/>
          </a:prstGeom>
          <a:solidFill>
            <a:srgbClr val="1A365D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"/>
          <p:cNvSpPr/>
          <p:nvPr/>
        </p:nvSpPr>
        <p:spPr>
          <a:xfrm>
            <a:off x="4823816" y="27507278"/>
            <a:ext cx="2200800" cy="595800"/>
          </a:xfrm>
          <a:prstGeom prst="rect">
            <a:avLst/>
          </a:prstGeom>
          <a:solidFill>
            <a:srgbClr val="7D0103"/>
          </a:solidFill>
          <a:ln>
            <a:noFill/>
          </a:ln>
        </p:spPr>
        <p:txBody>
          <a:bodyPr spcFirstLastPara="1" wrap="square" lIns="159175" tIns="159175" rIns="159175" bIns="159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비중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"/>
          <p:cNvSpPr/>
          <p:nvPr/>
        </p:nvSpPr>
        <p:spPr>
          <a:xfrm>
            <a:off x="1171523" y="28092034"/>
            <a:ext cx="5852700" cy="5376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"/>
          <p:cNvSpPr/>
          <p:nvPr/>
        </p:nvSpPr>
        <p:spPr>
          <a:xfrm>
            <a:off x="1171523" y="28092034"/>
            <a:ext cx="19308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"/>
          <p:cNvSpPr/>
          <p:nvPr/>
        </p:nvSpPr>
        <p:spPr>
          <a:xfrm>
            <a:off x="1171523" y="28092034"/>
            <a:ext cx="19308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ACT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"/>
          <p:cNvSpPr/>
          <p:nvPr/>
        </p:nvSpPr>
        <p:spPr>
          <a:xfrm>
            <a:off x="3102439" y="28092034"/>
            <a:ext cx="17163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"/>
          <p:cNvSpPr/>
          <p:nvPr/>
        </p:nvSpPr>
        <p:spPr>
          <a:xfrm>
            <a:off x="3102439" y="28092034"/>
            <a:ext cx="17163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242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"/>
          <p:cNvSpPr/>
          <p:nvPr/>
        </p:nvSpPr>
        <p:spPr>
          <a:xfrm>
            <a:off x="4818812" y="28092034"/>
            <a:ext cx="22059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"/>
          <p:cNvSpPr/>
          <p:nvPr/>
        </p:nvSpPr>
        <p:spPr>
          <a:xfrm>
            <a:off x="4818812" y="28092034"/>
            <a:ext cx="22059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28.5%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"/>
          <p:cNvSpPr/>
          <p:nvPr/>
        </p:nvSpPr>
        <p:spPr>
          <a:xfrm>
            <a:off x="1171523" y="28618315"/>
            <a:ext cx="5852700" cy="5376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"/>
          <p:cNvSpPr/>
          <p:nvPr/>
        </p:nvSpPr>
        <p:spPr>
          <a:xfrm>
            <a:off x="1171523" y="28618315"/>
            <a:ext cx="19308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"/>
          <p:cNvSpPr/>
          <p:nvPr/>
        </p:nvSpPr>
        <p:spPr>
          <a:xfrm>
            <a:off x="1171523" y="28618315"/>
            <a:ext cx="19308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DIA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"/>
          <p:cNvSpPr/>
          <p:nvPr/>
        </p:nvSpPr>
        <p:spPr>
          <a:xfrm>
            <a:off x="3102439" y="28618315"/>
            <a:ext cx="17163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"/>
          <p:cNvSpPr/>
          <p:nvPr/>
        </p:nvSpPr>
        <p:spPr>
          <a:xfrm>
            <a:off x="3102439" y="28618315"/>
            <a:ext cx="17163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208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"/>
          <p:cNvSpPr/>
          <p:nvPr/>
        </p:nvSpPr>
        <p:spPr>
          <a:xfrm>
            <a:off x="4818812" y="28618315"/>
            <a:ext cx="22059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"/>
          <p:cNvSpPr/>
          <p:nvPr/>
        </p:nvSpPr>
        <p:spPr>
          <a:xfrm>
            <a:off x="4818812" y="28618315"/>
            <a:ext cx="22059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24.5%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"/>
          <p:cNvSpPr/>
          <p:nvPr/>
        </p:nvSpPr>
        <p:spPr>
          <a:xfrm>
            <a:off x="1171523" y="29144595"/>
            <a:ext cx="5852700" cy="5376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"/>
          <p:cNvSpPr/>
          <p:nvPr/>
        </p:nvSpPr>
        <p:spPr>
          <a:xfrm>
            <a:off x="1171523" y="29144595"/>
            <a:ext cx="19308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"/>
          <p:cNvSpPr/>
          <p:nvPr/>
        </p:nvSpPr>
        <p:spPr>
          <a:xfrm>
            <a:off x="1171523" y="29144595"/>
            <a:ext cx="19308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OBS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"/>
          <p:cNvSpPr/>
          <p:nvPr/>
        </p:nvSpPr>
        <p:spPr>
          <a:xfrm>
            <a:off x="3102439" y="29144595"/>
            <a:ext cx="17163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"/>
          <p:cNvSpPr/>
          <p:nvPr/>
        </p:nvSpPr>
        <p:spPr>
          <a:xfrm>
            <a:off x="3102439" y="29144595"/>
            <a:ext cx="17163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186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"/>
          <p:cNvSpPr/>
          <p:nvPr/>
        </p:nvSpPr>
        <p:spPr>
          <a:xfrm>
            <a:off x="4818812" y="29144595"/>
            <a:ext cx="2205900" cy="5376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"/>
          <p:cNvSpPr/>
          <p:nvPr/>
        </p:nvSpPr>
        <p:spPr>
          <a:xfrm>
            <a:off x="4818812" y="29144595"/>
            <a:ext cx="2205900" cy="537600"/>
          </a:xfrm>
          <a:prstGeom prst="rect">
            <a:avLst/>
          </a:prstGeom>
          <a:solidFill>
            <a:srgbClr val="FFF7E3"/>
          </a:solidFill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1A365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21.9%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"/>
          <p:cNvSpPr/>
          <p:nvPr/>
        </p:nvSpPr>
        <p:spPr>
          <a:xfrm>
            <a:off x="1171523" y="29670875"/>
            <a:ext cx="5852700" cy="537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"/>
          <p:cNvSpPr/>
          <p:nvPr/>
        </p:nvSpPr>
        <p:spPr>
          <a:xfrm>
            <a:off x="1171523" y="29670875"/>
            <a:ext cx="19395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"/>
          <p:cNvSpPr/>
          <p:nvPr/>
        </p:nvSpPr>
        <p:spPr>
          <a:xfrm>
            <a:off x="3111315" y="29670875"/>
            <a:ext cx="1724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105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"/>
          <p:cNvSpPr/>
          <p:nvPr/>
        </p:nvSpPr>
        <p:spPr>
          <a:xfrm>
            <a:off x="4835564" y="29670875"/>
            <a:ext cx="2189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12.4%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"/>
          <p:cNvSpPr/>
          <p:nvPr/>
        </p:nvSpPr>
        <p:spPr>
          <a:xfrm>
            <a:off x="1171523" y="30208294"/>
            <a:ext cx="19395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DES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"/>
          <p:cNvSpPr/>
          <p:nvPr/>
        </p:nvSpPr>
        <p:spPr>
          <a:xfrm>
            <a:off x="3111315" y="30208294"/>
            <a:ext cx="1724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75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"/>
          <p:cNvSpPr/>
          <p:nvPr/>
        </p:nvSpPr>
        <p:spPr>
          <a:xfrm>
            <a:off x="4835564" y="30208294"/>
            <a:ext cx="2189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8.8%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"/>
          <p:cNvSpPr/>
          <p:nvPr/>
        </p:nvSpPr>
        <p:spPr>
          <a:xfrm>
            <a:off x="1171523" y="30745712"/>
            <a:ext cx="5852700" cy="537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"/>
          <p:cNvSpPr/>
          <p:nvPr/>
        </p:nvSpPr>
        <p:spPr>
          <a:xfrm>
            <a:off x="1171523" y="30745712"/>
            <a:ext cx="19395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AUT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"/>
          <p:cNvSpPr/>
          <p:nvPr/>
        </p:nvSpPr>
        <p:spPr>
          <a:xfrm>
            <a:off x="3111315" y="30745712"/>
            <a:ext cx="1724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"/>
          <p:cNvSpPr/>
          <p:nvPr/>
        </p:nvSpPr>
        <p:spPr>
          <a:xfrm>
            <a:off x="4835564" y="30745712"/>
            <a:ext cx="2189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3.3%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"/>
          <p:cNvSpPr/>
          <p:nvPr/>
        </p:nvSpPr>
        <p:spPr>
          <a:xfrm>
            <a:off x="1171523" y="31283131"/>
            <a:ext cx="19395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MEM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"/>
          <p:cNvSpPr/>
          <p:nvPr/>
        </p:nvSpPr>
        <p:spPr>
          <a:xfrm>
            <a:off x="3111315" y="31283131"/>
            <a:ext cx="1724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"/>
          <p:cNvSpPr/>
          <p:nvPr/>
        </p:nvSpPr>
        <p:spPr>
          <a:xfrm>
            <a:off x="4835564" y="31283131"/>
            <a:ext cx="2189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0.6%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"/>
          <p:cNvSpPr/>
          <p:nvPr/>
        </p:nvSpPr>
        <p:spPr>
          <a:xfrm>
            <a:off x="1171523" y="31820550"/>
            <a:ext cx="5852700" cy="551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"/>
          <p:cNvSpPr/>
          <p:nvPr/>
        </p:nvSpPr>
        <p:spPr>
          <a:xfrm>
            <a:off x="1171523" y="31820550"/>
            <a:ext cx="1939500" cy="5517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"/>
          <p:cNvSpPr/>
          <p:nvPr/>
        </p:nvSpPr>
        <p:spPr>
          <a:xfrm>
            <a:off x="1171523" y="31820550"/>
            <a:ext cx="19395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합계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"/>
          <p:cNvSpPr/>
          <p:nvPr/>
        </p:nvSpPr>
        <p:spPr>
          <a:xfrm>
            <a:off x="3111315" y="31820550"/>
            <a:ext cx="1724100" cy="5457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"/>
          <p:cNvSpPr/>
          <p:nvPr/>
        </p:nvSpPr>
        <p:spPr>
          <a:xfrm>
            <a:off x="3111315" y="31820550"/>
            <a:ext cx="17241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849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"/>
          <p:cNvSpPr/>
          <p:nvPr/>
        </p:nvSpPr>
        <p:spPr>
          <a:xfrm>
            <a:off x="4835564" y="31820550"/>
            <a:ext cx="2189100" cy="545700"/>
          </a:xfrm>
          <a:prstGeom prst="rect">
            <a:avLst/>
          </a:prstGeom>
          <a:solidFill>
            <a:srgbClr val="000000">
              <a:alpha val="0"/>
            </a:srgbClr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"/>
          <p:cNvSpPr/>
          <p:nvPr/>
        </p:nvSpPr>
        <p:spPr>
          <a:xfrm>
            <a:off x="4835564" y="31820550"/>
            <a:ext cx="21891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32625" rIns="159175" bIns="132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9"/>
              <a:buFont typeface="Open Sans SemiBold"/>
              <a:buNone/>
            </a:pPr>
            <a:r>
              <a:rPr lang="en-US" sz="1559" b="1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100%</a:t>
            </a:r>
            <a:endParaRPr sz="15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"/>
          <p:cNvSpPr/>
          <p:nvPr/>
        </p:nvSpPr>
        <p:spPr>
          <a:xfrm>
            <a:off x="7364375" y="26886323"/>
            <a:ext cx="71670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06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183"/>
              <a:buFont typeface="Roboto"/>
              <a:buNone/>
            </a:pPr>
            <a:r>
              <a:rPr lang="en-US" sz="2183" b="1">
                <a:solidFill>
                  <a:srgbClr val="450102"/>
                </a:solidFill>
                <a:latin typeface="Roboto"/>
                <a:ea typeface="Roboto"/>
                <a:cs typeface="Roboto"/>
                <a:sym typeface="Roboto"/>
              </a:rPr>
              <a:t>Distribution Chart (%)</a:t>
            </a:r>
            <a:endParaRPr sz="2183">
              <a:solidFill>
                <a:srgbClr val="4501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364375" y="27501710"/>
            <a:ext cx="7167432" cy="311869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"/>
          <p:cNvSpPr/>
          <p:nvPr/>
        </p:nvSpPr>
        <p:spPr>
          <a:xfrm>
            <a:off x="7364375" y="30898862"/>
            <a:ext cx="7167000" cy="1937700"/>
          </a:xfrm>
          <a:prstGeom prst="rect">
            <a:avLst/>
          </a:prstGeom>
          <a:solidFill>
            <a:srgbClr val="F8FAFC"/>
          </a:solidFill>
          <a:ln w="14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550" tIns="71275" rIns="142550" bIns="71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"/>
          <p:cNvSpPr/>
          <p:nvPr/>
        </p:nvSpPr>
        <p:spPr>
          <a:xfrm>
            <a:off x="7587140" y="31065936"/>
            <a:ext cx="6722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25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59"/>
              <a:buFont typeface="Open Sans SemiBold"/>
              <a:buNone/>
            </a:pP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ACT + DIA + OBS = 74.9%</a:t>
            </a: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→ 서사의 주된 골격 형성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"/>
          <p:cNvSpPr/>
          <p:nvPr/>
        </p:nvSpPr>
        <p:spPr>
          <a:xfrm>
            <a:off x="7587140" y="31489187"/>
            <a:ext cx="6722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25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내면(INT)은 12.4%에 불과 → 헤밍웨이의 </a:t>
            </a:r>
            <a:r>
              <a:rPr lang="en-US" sz="1559">
                <a:solidFill>
                  <a:srgbClr val="45010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내면성 절제</a:t>
            </a:r>
            <a:r>
              <a:rPr lang="en-US" sz="1637">
                <a:solidFill>
                  <a:srgbClr val="45010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실증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"/>
          <p:cNvSpPr/>
          <p:nvPr/>
        </p:nvSpPr>
        <p:spPr>
          <a:xfrm>
            <a:off x="7587140" y="31912440"/>
            <a:ext cx="67221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1425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37"/>
              <a:buFont typeface="Open Sans"/>
              <a:buNone/>
            </a:pPr>
            <a:r>
              <a:rPr lang="en-US" sz="1637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MEM(과거 회상)은 0.6%로 극히 희소 → 현재 시제 중심의 서사 구조</a:t>
            </a:r>
            <a:endParaRPr sz="163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"/>
          <p:cNvSpPr/>
          <p:nvPr/>
        </p:nvSpPr>
        <p:spPr>
          <a:xfrm>
            <a:off x="7587140" y="31088212"/>
            <a:ext cx="939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"/>
          <p:cNvSpPr/>
          <p:nvPr/>
        </p:nvSpPr>
        <p:spPr>
          <a:xfrm>
            <a:off x="7587140" y="31511464"/>
            <a:ext cx="939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"/>
          <p:cNvSpPr/>
          <p:nvPr/>
        </p:nvSpPr>
        <p:spPr>
          <a:xfrm>
            <a:off x="7587140" y="31934715"/>
            <a:ext cx="939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69"/>
              <a:buFont typeface="Open Sans"/>
              <a:buNone/>
            </a:pPr>
            <a:r>
              <a:rPr lang="en-US" sz="1169">
                <a:solidFill>
                  <a:srgbClr val="7D0103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 sz="1169">
              <a:solidFill>
                <a:srgbClr val="7D01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1318</Words>
  <Application>Microsoft Macintosh PowerPoint</Application>
  <PresentationFormat>사용자 지정</PresentationFormat>
  <Paragraphs>216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Open Sans</vt:lpstr>
      <vt:lpstr>Roboto</vt:lpstr>
      <vt:lpstr>Noto Sans</vt:lpstr>
      <vt:lpstr>Open Sans SemiBold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Sogang University - Division of English</dc:creator>
  <cp:lastModifiedBy>허윤석</cp:lastModifiedBy>
  <cp:revision>2</cp:revision>
  <dcterms:created xsi:type="dcterms:W3CDTF">2026-06-07T04:25:34Z</dcterms:created>
  <dcterms:modified xsi:type="dcterms:W3CDTF">2026-06-22T20:06:02Z</dcterms:modified>
</cp:coreProperties>
</file>